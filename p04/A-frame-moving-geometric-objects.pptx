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97" r:id="rId2"/>
    <p:sldId id="259" r:id="rId3"/>
    <p:sldId id="277" r:id="rId4"/>
    <p:sldId id="290" r:id="rId5"/>
    <p:sldId id="272" r:id="rId6"/>
    <p:sldId id="300" r:id="rId7"/>
    <p:sldId id="291" r:id="rId8"/>
    <p:sldId id="292" r:id="rId9"/>
    <p:sldId id="285" r:id="rId10"/>
    <p:sldId id="298" r:id="rId11"/>
    <p:sldId id="286" r:id="rId12"/>
    <p:sldId id="295" r:id="rId13"/>
    <p:sldId id="288" r:id="rId14"/>
    <p:sldId id="287" r:id="rId15"/>
    <p:sldId id="299" r:id="rId16"/>
    <p:sldId id="284" r:id="rId17"/>
    <p:sldId id="293" r:id="rId18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8" d="100"/>
          <a:sy n="88" d="100"/>
        </p:scale>
        <p:origin x="9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+mn-lt"/>
                <a:ea typeface="Calibri Light"/>
                <a:cs typeface="Calibri Light"/>
              </a:rPr>
              <a:t>Mo</a:t>
            </a:r>
            <a:r>
              <a:rPr lang="en-US" b="1" dirty="0">
                <a:latin typeface="Calibri"/>
                <a:ea typeface="Calibri"/>
                <a:cs typeface="Calibri"/>
              </a:rPr>
              <a:t>ving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Translation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Spinning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Rotation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Linear movement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A-box - </a:t>
            </a:r>
            <a:r>
              <a:rPr lang="en-US" sz="2800" b="1" dirty="0">
                <a:solidFill>
                  <a:srgbClr val="0070C0"/>
                </a:solidFill>
              </a:rPr>
              <a:t>https://aframe.io/docs/1.7.0/components/animation.html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position=“</a:t>
            </a:r>
            <a:r>
              <a:rPr lang="en-US" dirty="0">
                <a:solidFill>
                  <a:srgbClr val="FF0000"/>
                </a:solidFill>
              </a:rPr>
              <a:t>0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”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-1.5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19728F-8CC2-6847-E505-61BE2B7CBBB8}"/>
              </a:ext>
            </a:extLst>
          </p:cNvPr>
          <p:cNvSpPr txBox="1"/>
          <p:nvPr/>
        </p:nvSpPr>
        <p:spPr>
          <a:xfrm>
            <a:off x="9473877" y="2592728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-2.0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43DB-099F-DC24-32F0-481E9C8DFB29}"/>
              </a:ext>
            </a:extLst>
          </p:cNvPr>
          <p:cNvSpPr txBox="1"/>
          <p:nvPr/>
        </p:nvSpPr>
        <p:spPr>
          <a:xfrm>
            <a:off x="5866365" y="3669786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-1.5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EA5E-6154-63D8-2F93-73A6D2C1C27B}"/>
              </a:ext>
            </a:extLst>
          </p:cNvPr>
          <p:cNvSpPr txBox="1"/>
          <p:nvPr/>
        </p:nvSpPr>
        <p:spPr>
          <a:xfrm>
            <a:off x="7666051" y="29472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2B021-2F1A-B5C9-D28F-42D5B9013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960" y="2947235"/>
            <a:ext cx="2839779" cy="2269229"/>
          </a:xfrm>
          <a:prstGeom prst="rect">
            <a:avLst/>
          </a:prstGeom>
        </p:spPr>
      </p:pic>
      <p:pic>
        <p:nvPicPr>
          <p:cNvPr id="17" name="Graphic 16" descr="Cube outline">
            <a:extLst>
              <a:ext uri="{FF2B5EF4-FFF2-40B4-BE49-F238E27FC236}">
                <a16:creationId xmlns:a16="http://schemas.microsoft.com/office/drawing/2014/main" id="{1CB6B35F-B60A-1551-960C-E7D2119EA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1294" y="2610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static rotation </a:t>
            </a:r>
            <a:r>
              <a:rPr lang="en-US" dirty="0">
                <a:solidFill>
                  <a:srgbClr val="0070C0"/>
                </a:solidFill>
              </a:rPr>
              <a:t>– a-Platonic-solids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 -4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-2.5 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>
                <a:solidFill>
                  <a:schemeClr val="accent1"/>
                </a:solidFill>
              </a:rPr>
              <a:t>rotation=“45 45 45" 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26DD84-B1FF-74B6-2D4E-6E8057785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65120">
            <a:off x="6079142" y="19580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153-79A6-2630-5E1A-52589041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61BAF4-4294-B80B-28E8-DC06604F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95" y="193724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7DEC5-33D6-D421-7DA0-F2E1563B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76" y="3110144"/>
            <a:ext cx="7830669" cy="17922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C98B34-8664-4BBE-00BB-077F189828D3}"/>
              </a:ext>
            </a:extLst>
          </p:cNvPr>
          <p:cNvCxnSpPr/>
          <p:nvPr/>
        </p:nvCxnSpPr>
        <p:spPr>
          <a:xfrm flipH="1">
            <a:off x="8951794" y="2881510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58F28-6156-5673-705B-6A58700A313B}"/>
              </a:ext>
            </a:extLst>
          </p:cNvPr>
          <p:cNvCxnSpPr>
            <a:cxnSpLocks/>
          </p:cNvCxnSpPr>
          <p:nvPr/>
        </p:nvCxnSpPr>
        <p:spPr>
          <a:xfrm flipV="1">
            <a:off x="6461879" y="4006259"/>
            <a:ext cx="283335" cy="91306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9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A80B-2133-AB36-E153-49B07D0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Platonic solids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9A31-410D-04ED-109A-5AC7D8EF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&lt;a-box position="-4.0 1 -2.5" color="green"&gt;&lt;/a-box&gt; &lt;!-- </a:t>
            </a:r>
            <a:r>
              <a:rPr lang="en-US" sz="2400" dirty="0">
                <a:solidFill>
                  <a:srgbClr val="0070C0"/>
                </a:solidFill>
              </a:rPr>
              <a:t>cube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--&gt;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position="-2.0 1 -2.5"  geometry="primitive: </a:t>
            </a:r>
            <a:r>
              <a:rPr lang="en-US" sz="2400" dirty="0">
                <a:solidFill>
                  <a:srgbClr val="0070C0"/>
                </a:solidFill>
              </a:rPr>
              <a:t>tetrahedron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position="0 1 -2.5" geometry="primitive: </a:t>
            </a:r>
            <a:r>
              <a:rPr lang="en-US" sz="2400" dirty="0">
                <a:solidFill>
                  <a:srgbClr val="0070C0"/>
                </a:solidFill>
              </a:rPr>
              <a:t>dodecahedron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position="2.0 1 -2.5" geometry="primitive: </a:t>
            </a:r>
            <a:r>
              <a:rPr lang="en-US" sz="2400" dirty="0">
                <a:solidFill>
                  <a:srgbClr val="0070C0"/>
                </a:solidFill>
              </a:rPr>
              <a:t>octahedron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position="4.0 1 -2.5" geometry="primitive: </a:t>
            </a:r>
            <a:r>
              <a:rPr lang="en-US" sz="2400" dirty="0">
                <a:solidFill>
                  <a:srgbClr val="0070C0"/>
                </a:solidFill>
              </a:rPr>
              <a:t>icosahedron</a:t>
            </a:r>
            <a:r>
              <a:rPr lang="en-US" sz="24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</p:txBody>
      </p:sp>
    </p:spTree>
    <p:extLst>
      <p:ext uri="{BB962C8B-B14F-4D97-AF65-F5344CB8AC3E}">
        <p14:creationId xmlns:p14="http://schemas.microsoft.com/office/powerpoint/2010/main" val="40500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449-7214-6E8B-9A8B-A55959B6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880B-1AAE-B245-7A49-96063FC1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76" y="3087377"/>
            <a:ext cx="6982998" cy="285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12E9B-EB4C-450D-241C-CC9BAEB69820}"/>
              </a:ext>
            </a:extLst>
          </p:cNvPr>
          <p:cNvSpPr txBox="1"/>
          <p:nvPr/>
        </p:nvSpPr>
        <p:spPr>
          <a:xfrm>
            <a:off x="5372100" y="1360714"/>
            <a:ext cx="284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A-frame Inspector: Top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1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dirty="0">
                <a:solidFill>
                  <a:schemeClr val="accent1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true;”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414920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D41-77F3-19FD-5F6B-9B84E1EA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49B6-79FC-ECA1-88E5-AFD5F5E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dynamic rotation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F49E-D3AB-5AC3-734B-215D9892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869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from: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to: 0 </a:t>
            </a:r>
            <a:r>
              <a:rPr lang="en-US" dirty="0">
                <a:solidFill>
                  <a:srgbClr val="FF0000"/>
                </a:solidFill>
              </a:rPr>
              <a:t>360</a:t>
            </a:r>
            <a:r>
              <a:rPr lang="en-US" dirty="0">
                <a:solidFill>
                  <a:srgbClr val="0070C0"/>
                </a:solidFill>
              </a:rPr>
              <a:t> 0; 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rotates </a:t>
            </a:r>
            <a:r>
              <a:rPr lang="en-US" b="1" dirty="0">
                <a:solidFill>
                  <a:srgbClr val="FF0000"/>
                </a:solidFill>
              </a:rPr>
              <a:t>around</a:t>
            </a:r>
            <a:r>
              <a:rPr lang="en-US" dirty="0">
                <a:solidFill>
                  <a:srgbClr val="FF0000"/>
                </a:solidFill>
              </a:rPr>
              <a:t> the y-axis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2F3220-EC73-5D30-6C54-E224A5512EEC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7EC39-712F-F014-D18B-C3493C4B1278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2305FA-F815-8162-FEFB-8FFEE9FBC0E0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DFBA5-ED3D-2BA8-F59D-3DD4F8CB1F84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1EA5C-2301-6FA1-2817-3A09A5B78F9F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A8651-D3DA-08C4-4EB3-CDF94A8B02B9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A2B6C-9DFE-32F4-9447-B47CF3D557EA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FBF8B1-0A6F-58E2-9CCF-46E086C17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6576" y="2054871"/>
            <a:ext cx="914400" cy="914400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F74151E-8DB8-4CF2-7706-784B0AF284F4}"/>
              </a:ext>
            </a:extLst>
          </p:cNvPr>
          <p:cNvSpPr/>
          <p:nvPr/>
        </p:nvSpPr>
        <p:spPr>
          <a:xfrm>
            <a:off x="6736412" y="2972872"/>
            <a:ext cx="742682" cy="45612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8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 – </a:t>
            </a:r>
            <a:r>
              <a:rPr lang="en-US" dirty="0">
                <a:solidFill>
                  <a:srgbClr val="FF0000"/>
                </a:solidFill>
              </a:rPr>
              <a:t>rotation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'property: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>
                <a:solidFill>
                  <a:srgbClr val="0070C0"/>
                </a:solidFill>
              </a:rPr>
              <a:t>;         </a:t>
            </a:r>
            <a:r>
              <a:rPr lang="en-US" dirty="0">
                <a:solidFill>
                  <a:srgbClr val="FF0000"/>
                </a:solidFill>
              </a:rPr>
              <a:t>position…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   </a:t>
            </a:r>
            <a:r>
              <a:rPr lang="en-US" dirty="0">
                <a:solidFill>
                  <a:srgbClr val="FF0000"/>
                </a:solidFill>
              </a:rPr>
              <a:t>entire transform in 10,000 milliseconds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 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  </a:t>
            </a:r>
            <a:r>
              <a:rPr lang="en-US" dirty="0">
                <a:solidFill>
                  <a:srgbClr val="FF0000"/>
                </a:solidFill>
              </a:rPr>
              <a:t>between runs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38900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B35-771B-8ADD-F244-DFCE655E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orbits?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56BC-447B-286E-FB03-A06C20F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a-sphere-mars-spin-narrow.html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a-sphere-mars-spin-wide.html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2D3D-C042-F227-F593-6828804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– frame of reference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19A69335-6979-6268-65E8-7283DFE81F6D}"/>
              </a:ext>
            </a:extLst>
          </p:cNvPr>
          <p:cNvSpPr/>
          <p:nvPr/>
        </p:nvSpPr>
        <p:spPr>
          <a:xfrm>
            <a:off x="6676338" y="1398767"/>
            <a:ext cx="3949522" cy="415558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4A7D-0C8F-C53E-2953-75C6463ABAD2}"/>
              </a:ext>
            </a:extLst>
          </p:cNvPr>
          <p:cNvSpPr txBox="1"/>
          <p:nvPr/>
        </p:nvSpPr>
        <p:spPr>
          <a:xfrm>
            <a:off x="8290263" y="334629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0,0,-5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00AB0-5032-A007-A5A4-2E7D47962D34}"/>
              </a:ext>
            </a:extLst>
          </p:cNvPr>
          <p:cNvSpPr txBox="1"/>
          <p:nvPr/>
        </p:nvSpPr>
        <p:spPr>
          <a:xfrm>
            <a:off x="10109621" y="1828731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0,0,-5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16555-D539-9165-8DC2-F180982EBB06}"/>
              </a:ext>
            </a:extLst>
          </p:cNvPr>
          <p:cNvSpPr txBox="1"/>
          <p:nvPr/>
        </p:nvSpPr>
        <p:spPr>
          <a:xfrm>
            <a:off x="9255048" y="2919813"/>
            <a:ext cx="1643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0,0,-2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11A-3840-390A-6274-795575564DEC}"/>
              </a:ext>
            </a:extLst>
          </p:cNvPr>
          <p:cNvSpPr txBox="1"/>
          <p:nvPr/>
        </p:nvSpPr>
        <p:spPr>
          <a:xfrm>
            <a:off x="434378" y="2099796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&lt;a-assets&gt;</a:t>
            </a:r>
          </a:p>
          <a:p>
            <a:r>
              <a:rPr lang="en-US" dirty="0"/>
              <a:t>   &lt;</a:t>
            </a:r>
            <a:r>
              <a:rPr lang="en-US" dirty="0" err="1"/>
              <a:t>img</a:t>
            </a:r>
            <a:r>
              <a:rPr lang="en-US" dirty="0"/>
              <a:t> id="mars" </a:t>
            </a:r>
            <a:r>
              <a:rPr lang="en-US" dirty="0" err="1"/>
              <a:t>src</a:t>
            </a:r>
            <a:r>
              <a:rPr lang="en-US" dirty="0"/>
              <a:t>="./IMAGES/mars-</a:t>
            </a:r>
            <a:r>
              <a:rPr lang="en-US" dirty="0" err="1"/>
              <a:t>surface.avif</a:t>
            </a:r>
            <a:r>
              <a:rPr lang="en-US" dirty="0"/>
              <a:t>“&gt;</a:t>
            </a:r>
          </a:p>
          <a:p>
            <a:r>
              <a:rPr lang="en-US" dirty="0"/>
              <a:t>&lt;/a-assets&gt;</a:t>
            </a:r>
          </a:p>
          <a:p>
            <a:r>
              <a:rPr lang="en-US" dirty="0"/>
              <a:t>&lt;</a:t>
            </a:r>
            <a:r>
              <a:rPr lang="en-US" b="1" dirty="0"/>
              <a:t>a-entity</a:t>
            </a:r>
            <a:r>
              <a:rPr lang="en-US" dirty="0"/>
              <a:t> position="</a:t>
            </a:r>
            <a:r>
              <a:rPr lang="en-US" b="1" dirty="0">
                <a:solidFill>
                  <a:srgbClr val="7030A0"/>
                </a:solidFill>
              </a:rPr>
              <a:t>0 0 -5</a:t>
            </a:r>
            <a:r>
              <a:rPr lang="en-US" dirty="0"/>
              <a:t>" </a:t>
            </a:r>
          </a:p>
          <a:p>
            <a:r>
              <a:rPr lang="en-US" dirty="0"/>
              <a:t>	animation="property: rotation; </a:t>
            </a:r>
          </a:p>
          <a:p>
            <a:r>
              <a:rPr lang="en-US" dirty="0"/>
              <a:t>	to: 0 360 0; 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  <a:endParaRPr lang="en-US" dirty="0"/>
          </a:p>
          <a:p>
            <a:r>
              <a:rPr lang="en-US" dirty="0"/>
              <a:t>	loop: true; dur:10000 "&gt;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&lt;a-sphere  id="</a:t>
            </a:r>
            <a:r>
              <a:rPr lang="en-US" dirty="0" err="1">
                <a:solidFill>
                  <a:schemeClr val="accent1"/>
                </a:solidFill>
              </a:rPr>
              <a:t>MySphere</a:t>
            </a:r>
            <a:r>
              <a:rPr lang="en-US" dirty="0">
                <a:solidFill>
                  <a:schemeClr val="accent1"/>
                </a:solidFill>
              </a:rPr>
              <a:t>" position="</a:t>
            </a:r>
            <a:r>
              <a:rPr lang="en-US" dirty="0">
                <a:solidFill>
                  <a:srgbClr val="FF0000"/>
                </a:solidFill>
              </a:rPr>
              <a:t>0 0 -2</a:t>
            </a:r>
            <a:r>
              <a:rPr lang="en-US" dirty="0">
                <a:solidFill>
                  <a:schemeClr val="accent1"/>
                </a:solidFill>
              </a:rPr>
              <a:t>" 			</a:t>
            </a:r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="#mars" rotation="0 0 0" &gt;</a:t>
            </a:r>
          </a:p>
          <a:p>
            <a:r>
              <a:rPr lang="en-US" dirty="0">
                <a:solidFill>
                  <a:schemeClr val="accent1"/>
                </a:solidFill>
              </a:rPr>
              <a:t>	&lt;/a-sphere&gt;</a:t>
            </a:r>
          </a:p>
          <a:p>
            <a:r>
              <a:rPr lang="en-US" dirty="0"/>
              <a:t>&lt;/</a:t>
            </a:r>
            <a:r>
              <a:rPr lang="en-US" b="1" dirty="0"/>
              <a:t>a-entity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77524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781-8429-1E12-D9BF-3F8F2FA6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– frame </a:t>
            </a:r>
            <a:r>
              <a:rPr lang="en-US"/>
              <a:t>of reference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22004-9513-D2FA-B584-867B5C63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3" y="2529153"/>
            <a:ext cx="9322593" cy="23347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A216-2B10-9355-C19A-81E6F9F79E2C}"/>
              </a:ext>
            </a:extLst>
          </p:cNvPr>
          <p:cNvCxnSpPr/>
          <p:nvPr/>
        </p:nvCxnSpPr>
        <p:spPr>
          <a:xfrm flipH="1">
            <a:off x="8637431" y="2023101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4B5C6-6B0E-5943-A6D3-BEE76012C665}"/>
              </a:ext>
            </a:extLst>
          </p:cNvPr>
          <p:cNvCxnSpPr>
            <a:cxnSpLocks/>
          </p:cNvCxnSpPr>
          <p:nvPr/>
        </p:nvCxnSpPr>
        <p:spPr>
          <a:xfrm flipH="1" flipV="1">
            <a:off x="8967988" y="4019238"/>
            <a:ext cx="648237" cy="7555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6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183B-FE37-23B4-6E83-428DC0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38C2-21C7-D50C-F5C1-1EA52AEC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at the same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4AA0-ABE2-4C92-9051-EAFB1B82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10" y="3324415"/>
            <a:ext cx="8329565" cy="1106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7FD7C-218F-2415-9938-3E613226838A}"/>
              </a:ext>
            </a:extLst>
          </p:cNvPr>
          <p:cNvSpPr txBox="1"/>
          <p:nvPr/>
        </p:nvSpPr>
        <p:spPr>
          <a:xfrm>
            <a:off x="6946005" y="313974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49327-E26F-D3D1-1526-F117EEA2E840}"/>
              </a:ext>
            </a:extLst>
          </p:cNvPr>
          <p:cNvSpPr txBox="1"/>
          <p:nvPr/>
        </p:nvSpPr>
        <p:spPr>
          <a:xfrm>
            <a:off x="7347397" y="3429000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</a:t>
            </a:r>
          </a:p>
        </p:txBody>
      </p:sp>
    </p:spTree>
    <p:extLst>
      <p:ext uri="{BB962C8B-B14F-4D97-AF65-F5344CB8AC3E}">
        <p14:creationId xmlns:p14="http://schemas.microsoft.com/office/powerpoint/2010/main" val="170432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7752-E8BF-C7EB-C6AF-225EEC3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B57F-8D99-5527-F23B-F92D6F8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&lt;</a:t>
            </a:r>
            <a:r>
              <a:rPr lang="en-US" sz="1600" dirty="0"/>
              <a:t>a-sphere </a:t>
            </a:r>
            <a:r>
              <a:rPr lang="en-US" sz="1600" dirty="0" err="1"/>
              <a:t>src</a:t>
            </a:r>
            <a:r>
              <a:rPr lang="en-US" sz="1600" dirty="0"/>
              <a:t>="#mars" radius="0.5" position="0  0.5  0" segments-height="53"</a:t>
            </a:r>
          </a:p>
          <a:p>
            <a:pPr marL="0" indent="0">
              <a:buNone/>
            </a:pPr>
            <a:r>
              <a:rPr lang="en-US" sz="1600" dirty="0"/>
              <a:t>    animation='property: position; dur: 5000; from: </a:t>
            </a:r>
            <a:r>
              <a:rPr lang="en-US" sz="1600" dirty="0">
                <a:solidFill>
                  <a:srgbClr val="FF0000"/>
                </a:solidFill>
              </a:rPr>
              <a:t>-2  0.5  0</a:t>
            </a:r>
            <a:r>
              <a:rPr lang="en-US" sz="1600" dirty="0"/>
              <a:t>; to: </a:t>
            </a:r>
            <a:r>
              <a:rPr lang="en-US" sz="1600" dirty="0">
                <a:solidFill>
                  <a:srgbClr val="FF0000"/>
                </a:solidFill>
              </a:rPr>
              <a:t>2  0.5  0</a:t>
            </a:r>
            <a:r>
              <a:rPr lang="en-US" sz="1600" dirty="0"/>
              <a:t>;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animation__2='property: rotation; dur: 1000; from: </a:t>
            </a:r>
            <a:r>
              <a:rPr lang="en-US" sz="1600" b="1" dirty="0"/>
              <a:t>0 0 0</a:t>
            </a:r>
            <a:r>
              <a:rPr lang="en-US" sz="1600" dirty="0"/>
              <a:t>;    to: </a:t>
            </a:r>
            <a:r>
              <a:rPr lang="en-US" sz="1600" b="1" dirty="0"/>
              <a:t>0 360 0</a:t>
            </a:r>
            <a:r>
              <a:rPr lang="en-US" sz="1600" dirty="0"/>
              <a:t>;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normal</a:t>
            </a:r>
            <a:r>
              <a:rPr lang="en-US" sz="1600" dirty="0"/>
              <a:t>;   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animation__3='property:  scale; dur: 1000; from: </a:t>
            </a:r>
            <a:r>
              <a:rPr lang="en-US" sz="1600" b="1" dirty="0"/>
              <a:t>1 1 1</a:t>
            </a:r>
            <a:r>
              <a:rPr lang="en-US" sz="1600" dirty="0"/>
              <a:t>;    to: </a:t>
            </a:r>
            <a:r>
              <a:rPr lang="en-US" sz="1600" b="1" dirty="0"/>
              <a:t>2 2 2</a:t>
            </a:r>
            <a:r>
              <a:rPr lang="en-US" sz="1600" dirty="0"/>
              <a:t>; 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true;'&gt;</a:t>
            </a:r>
          </a:p>
          <a:p>
            <a:pPr marL="0" indent="0">
              <a:buNone/>
            </a:pPr>
            <a:r>
              <a:rPr lang="en-US" sz="1600" dirty="0"/>
              <a:t>&lt;/a-sphere&gt;</a:t>
            </a:r>
          </a:p>
        </p:txBody>
      </p:sp>
    </p:spTree>
    <p:extLst>
      <p:ext uri="{BB962C8B-B14F-4D97-AF65-F5344CB8AC3E}">
        <p14:creationId xmlns:p14="http://schemas.microsoft.com/office/powerpoint/2010/main" val="4092314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2458</TotalTime>
  <Words>787</Words>
  <Application>Microsoft Office PowerPoint</Application>
  <PresentationFormat>Widescreen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Meiryo</vt:lpstr>
      <vt:lpstr>Aptos</vt:lpstr>
      <vt:lpstr>Arial</vt:lpstr>
      <vt:lpstr>Calibri</vt:lpstr>
      <vt:lpstr>Calibri Light</vt:lpstr>
      <vt:lpstr>Cambria Math</vt:lpstr>
      <vt:lpstr>Wingdings</vt:lpstr>
      <vt:lpstr>office theme</vt:lpstr>
      <vt:lpstr>AR/VR Workshop Moving geometric objects</vt:lpstr>
      <vt:lpstr>Outline</vt:lpstr>
      <vt:lpstr>A-box - https://aframe.io/docs/1.7.0/components/animation.html</vt:lpstr>
      <vt:lpstr>A-box</vt:lpstr>
      <vt:lpstr>A-box static rotation – a-Platonic-solids</vt:lpstr>
      <vt:lpstr>Translation</vt:lpstr>
      <vt:lpstr>Platonic solids </vt:lpstr>
      <vt:lpstr>Other views</vt:lpstr>
      <vt:lpstr>Basic animation</vt:lpstr>
      <vt:lpstr>A-box dynamic rotation</vt:lpstr>
      <vt:lpstr>Basic animation – rotation in place</vt:lpstr>
      <vt:lpstr>How to create orbits?</vt:lpstr>
      <vt:lpstr>Orbits – frame of reference</vt:lpstr>
      <vt:lpstr>Several animations – frame of reference</vt:lpstr>
      <vt:lpstr>Several animations at the same time</vt:lpstr>
      <vt:lpstr>Multi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263</cp:revision>
  <cp:lastPrinted>2024-05-23T21:19:58Z</cp:lastPrinted>
  <dcterms:created xsi:type="dcterms:W3CDTF">2023-10-08T23:58:23Z</dcterms:created>
  <dcterms:modified xsi:type="dcterms:W3CDTF">2025-10-24T19:57:32Z</dcterms:modified>
</cp:coreProperties>
</file>